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Clientes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FF6B5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Compra única</c:v>
                </c:pt>
                <c:pt idx="1">
                  <c:v>Recompra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96.96</c:v>
                </c:pt>
                <c:pt idx="1">
                  <c:v>3.04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1A2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Trebuchet MS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Trebuchet MS"/>
              </a:rPr>
              <a:t>Tasa de churn según población (snapshot 2018-05-31)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churn (H=90)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Todos</c:v>
                  </c:pt>
                  <c:pt idx="1">
                    <c:v>Recencia ≤90d</c:v>
                  </c:pt>
                  <c:pt idx="2">
                    <c:v>Recurrentes</c:v>
                  </c:pt>
                  <c:pt idx="3">
                    <c:v>Recientes+recurr.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99.4</c:v>
                </c:pt>
                <c:pt idx="1">
                  <c:v>99.2</c:v>
                </c:pt>
                <c:pt idx="2">
                  <c:v>98.1</c:v>
                </c:pt>
                <c:pt idx="3">
                  <c:v>96.7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Trebuchet MS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Trebuchet MS"/>
              </a:rPr>
              <a:t>Recompra por categoría del 1er pedido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recompra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cool_stuff</c:v>
                  </c:pt>
                  <c:pt idx="1">
                    <c:v>watches_gifts</c:v>
                  </c:pt>
                  <c:pt idx="2">
                    <c:v>telephony</c:v>
                  </c:pt>
                  <c:pt idx="3">
                    <c:v>health_beauty</c:v>
                  </c:pt>
                  <c:pt idx="4">
                    <c:v>sports_leisure</c:v>
                  </c:pt>
                  <c:pt idx="5">
                    <c:v>furniture_decor</c:v>
                  </c:pt>
                  <c:pt idx="6">
                    <c:v>bed_bath_table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1.88</c:v>
                </c:pt>
                <c:pt idx="1">
                  <c:v>2.07</c:v>
                </c:pt>
                <c:pt idx="2">
                  <c:v>2.41</c:v>
                </c:pt>
                <c:pt idx="3">
                  <c:v>2.81</c:v>
                </c:pt>
                <c:pt idx="4">
                  <c:v>3.87</c:v>
                </c:pt>
                <c:pt idx="5">
                  <c:v>4.57</c:v>
                </c:pt>
                <c:pt idx="6">
                  <c:v>4.58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Trebuchet MS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Trebuchet MS"/>
              </a:rPr>
              <a:t>Regresión logística (class_weight) — propensión a recompra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Validación</c:v>
                  </c:pt>
                  <c:pt idx="1">
                    <c:v>Backtest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0.624</c:v>
                </c:pt>
                <c:pt idx="1">
                  <c:v>0.613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Validación</c:v>
                  </c:pt>
                  <c:pt idx="1">
                    <c:v>Backtest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0.456</c:v>
                </c:pt>
                <c:pt idx="1">
                  <c:v>0.407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232D6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CASO Nº 7 · DATASET OLIST BRAZILIAN E-COMMERCE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24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Análisis de Propensión al Churn de Clientes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 y 2  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Definición del problema, EDA y pipeline reproducible sobre Azure SQL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Soluciones de IA Aplicada a los Negocios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reto: anticipar qué clientes no volverán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Negocio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conecta PyMEs con grandes marketplaces en Brasil. Retener cuesta mucho menos que adquirir.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74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847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Churn silencioso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e-commerce el cliente no cancela: simplemente deja de volver. Hay que inferirlo de su comportamiento.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Identidad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persona real es customer_unique_id (no customer_id, que cambia por pedido).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1605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7804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83680" y="475488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partición debe ser cronológica (out-of-time) para evitar fuga de información.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Nueve tablas, ~100 MB, en Azure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99.441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(2016-2018)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55848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55848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96.096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93008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únicos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63056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63056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0216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relacionales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70264" y="160020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70264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~100 MB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07424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memoria con pandas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híbrida en Azure (grupo de recursos Olist)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023360"/>
            <a:ext cx="109728" cy="2194560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Blob Storage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crudos. Geolocalización resumida 61 MB → 1,1 MB (-98%).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15968" y="40233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15968" y="4023360"/>
            <a:ext cx="109728" cy="2194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636008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SQL (serverless)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36008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tablas; filtra por fecha en la fuente para la simulación mensual.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83296" y="402336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83296" y="4023360"/>
            <a:ext cx="109728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403336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03336" y="484632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local · v2 Blob · v3 SQL — mismo análisis, distinta fuente.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HALLAZGO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Olist es un negocio de compradores de una sola vez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737360"/>
            <a:ext cx="5577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217920" y="18745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96,96%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217920" y="274320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clientes compra una sola vez en el periodo observado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035040" y="3749040"/>
            <a:ext cx="557784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397764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Implicación: 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definición ingenua de churn produce una clase positiva casi universal. La estructura del negocio —no la calidad del servicio— domina el comportamiento.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HALLAZGO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churn por ventana es degenerado en cualquier población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37360"/>
            <a:ext cx="4206240" cy="4114800"/>
          </a:xfrm>
          <a:prstGeom prst="roundRect">
            <a:avLst>
              <a:gd name="adj" fmla="val 1778"/>
            </a:avLst>
          </a:prstGeom>
          <a:solidFill>
            <a:srgbClr val="141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35240" y="19659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¿Por qué?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635240" y="2514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P(comprar en 90 días) ≈ 3% × 68% ≈ 2%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635240" y="310896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el churn ronda el 98-99% por construcción.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is_churn por ventana se conserva como métrica de negocio, NO como target de modelado.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Reformular el target: propensión a recompra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128016" cy="4206240"/>
          </a:xfrm>
          <a:prstGeom prst="rect">
            <a:avLst/>
          </a:prstGeom>
          <a:solidFill>
            <a:srgbClr val="5B647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A) is_churn por ventana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si no compra en (t, t+H]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~97-99% positivos en toda población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Señal casi constante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solo como indicador de salud (retención)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6459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1645920"/>
            <a:ext cx="128016" cy="4206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B) Propensión a recompra  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is_repeat / compra_futura: ¿vuelve a comprar?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positiva ~3% (desbalanceada pero real)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Directamente accionable para retención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maneja con class_weight; métricas AUC/recall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HIPÓTESIS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Refinadas con la evidencia del EDA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766560"/>
                <a:gridCol w="3383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(EDA)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mayor recencia, mayor abandono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Sostenida (mecánica)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Tener ≥2 compras previas: predictor dominante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Sostenida (dominante)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Características del 1er pedido (nº ítems, valor)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Nueva — señal débil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categoría del producto modula la recompra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Moderada (1,9-4,6%)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Geografía y distancia vendedor-cliente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validar (literatura)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tardía / reseña baja impulsan el churn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Descartadas →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experiencia (entrega/reseña) NO predice la recompra (3,04% vs 3,10%); ojo con el artefacto de medias-estrellas.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HALLAZGO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categoría modula la recompra; la experiencia no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830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818120" y="19659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3,04% vs 3,10%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818120" y="2697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con entrega puntual vs. tardía → sin efecto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589520" y="3886200"/>
            <a:ext cx="4023360" cy="2011680"/>
          </a:xfrm>
          <a:prstGeom prst="roundRect">
            <a:avLst>
              <a:gd name="adj" fmla="val 3636"/>
            </a:avLst>
          </a:prstGeom>
          <a:solidFill>
            <a:srgbClr val="141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18120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 ≈ 0,54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818120" y="46634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features del 1er pedido explican poco la recompra: el reto es estructural, no de servicio puntual.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 DATOS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los CSV a la predicción de recompra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CSV crudos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370332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tablas + resumen geo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32304" y="3310128"/>
            <a:ext cx="338328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70632" y="22860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62072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Blob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370332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almacén barato de archivos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54296" y="3310128"/>
            <a:ext cx="338328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992624" y="22860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50992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650992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84064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SQL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02352" y="370332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persistente; filtra por fecha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76288" y="3310128"/>
            <a:ext cx="338328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214616" y="22860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72984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872984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06056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maestra (t)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24344" y="370332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por cliente · sin fuga (≤ t)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98280" y="3310128"/>
            <a:ext cx="338328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36608" y="2286000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94976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0094976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28048" y="3154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+ modelo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546336" y="3703320"/>
            <a:ext cx="1655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recompra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5926"/>
            </a:avLst>
          </a:prstGeom>
          <a:solidFill>
            <a:srgbClr val="141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68680" y="502920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mensual: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fin de mes = un nuevo corte t → se recalculan features y target y se reentrena. Las métricas (AUC, recall) se miden en meses futuros que el modelo no vio (out-of-time).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reproducible y parametrizado por fecha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5448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… WHERE fecha ≤ t (filtra en la fuente)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154680" y="3337560"/>
            <a:ext cx="301752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56432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62272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93592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Tabla maestra(t)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39312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+ derivadas por cliente, sin fuga (≤ t)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62472" y="3337560"/>
            <a:ext cx="301752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364224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70064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70064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01384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sklearn Pipeline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 · escalado · OneHot + estimador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70264" y="3337560"/>
            <a:ext cx="301752" cy="0"/>
          </a:xfrm>
          <a:prstGeom prst="line">
            <a:avLst/>
          </a:prstGeom>
          <a:noFill/>
          <a:ln w="31750">
            <a:solidFill>
              <a:srgbClr val="FF6B5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272016" y="2103120"/>
            <a:ext cx="260604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277856" y="2286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277856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409176" y="30175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Simulación mensual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54896" y="361188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→ train / validación / backtest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accionable: </a:t>
            </a:r>
            <a:pPr indent="0" marL="0"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compra_futura (recompra en la ventana) · sin fuga: features ≤ t, target &gt; t · una misma función genera el dataset de cualquier mes.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out-of-time (14 snapshots mensuales)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73736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60920" y="1737360"/>
            <a:ext cx="91440" cy="12984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18562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AUC = 0,62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35240" y="224942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de dar mayor score a quien SÍ recompra que a quien no. 0,5 = azar · 1 = perfecto.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60920" y="315468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60920" y="3154680"/>
            <a:ext cx="91440" cy="1298448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11" name="Text 8"/>
          <p:cNvSpPr/>
          <p:nvPr/>
        </p:nvSpPr>
        <p:spPr>
          <a:xfrm>
            <a:off x="7635240" y="327355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 = 0,46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35240" y="366674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todos los que recompraron, qué fracción detecta el modelo.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60920" y="4572000"/>
            <a:ext cx="42519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60920" y="4572000"/>
            <a:ext cx="91440" cy="12984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/>
          <p:nvPr/>
        </p:nvSpPr>
        <p:spPr>
          <a:xfrm>
            <a:off x="7635240" y="4690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635240" y="5084064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 y frecuencia dominan; la experiencia aporta poco.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B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CIERRE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 y próximos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109728" cy="102412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validado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762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Propensión a recompra (is_repeat); is_churn como métrica de negocio.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788920"/>
            <a:ext cx="109728" cy="10241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9077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 listo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3192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parametrizado por fecha, sobre Azure SQL, con simulación mensual.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603504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931920"/>
            <a:ext cx="109728" cy="1024128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507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Drivers claros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462272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Recencia y frecuencia dominan; experiencia aporta poco.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12280" y="1645920"/>
            <a:ext cx="4800600" cy="3584448"/>
          </a:xfrm>
          <a:prstGeom prst="roundRect">
            <a:avLst>
              <a:gd name="adj" fmla="val 2041"/>
            </a:avLst>
          </a:prstGeom>
          <a:solidFill>
            <a:srgbClr val="141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18745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3 — próximos pasos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2468880"/>
            <a:ext cx="4206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árbol / gradient boosting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de probabilidades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según valor de negocio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MLflow (monitoreo)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mensual automatizado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Olist · Sprints 1-2 · Azure for Students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Churn Olist — Sprints 1-2</dc:title>
  <dc:subject>PptxGenJS Presentation</dc:subject>
  <dc:creator>Equipo Olist</dc:creator>
  <cp:lastModifiedBy>Equipo Olist</cp:lastModifiedBy>
  <cp:revision>1</cp:revision>
  <dcterms:created xsi:type="dcterms:W3CDTF">2026-06-06T14:19:10Z</dcterms:created>
  <dcterms:modified xsi:type="dcterms:W3CDTF">2026-06-06T14:19:10Z</dcterms:modified>
</cp:coreProperties>
</file>