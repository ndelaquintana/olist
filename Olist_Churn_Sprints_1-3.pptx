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2011680"/>
            <a:ext cx="4754880" cy="4754880"/>
          </a:xfrm>
          <a:prstGeom prst="ellipse">
            <a:avLst/>
          </a:prstGeom>
          <a:solidFill>
            <a:srgbClr val="0F2A31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023360"/>
            <a:ext cx="4206240" cy="4206240"/>
          </a:xfrm>
          <a:prstGeom prst="ellipse">
            <a:avLst/>
          </a:prstGeom>
          <a:solidFill>
            <a:srgbClr val="0F2A3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Nº7 · MÓDULO: IMPLEMENTACIÓN DE SOLUCIONES DE IA APLICADA A LOS NEGOCIOS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Propensión a la Recompra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Churn en Olist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310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crudo a la decisión de negocio: EDA, ingeniería de variables, modelado y pipeline mensual.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F2A31"/>
          </a:solidFill>
          <a:ln w="12700">
            <a:solidFill>
              <a:srgbClr val="2C4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≈100.000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4590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(2016–2018)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406908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F2A31"/>
          </a:solidFill>
          <a:ln w="12700">
            <a:solidFill>
              <a:srgbClr val="2C4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29000" y="4590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relacionales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406908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F2A31"/>
          </a:solidFill>
          <a:ln w="12700">
            <a:solidFill>
              <a:srgbClr val="2C4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75.630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26480" y="4590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primerizos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32520" y="406908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F2A31"/>
          </a:solidFill>
          <a:ln w="12700">
            <a:solidFill>
              <a:srgbClr val="2C4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is_repeat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823960" y="4590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accionable (≤90 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De La Quintana</a:t>
            </a:r>
            <a:pPr indent="0" marL="0">
              <a:buNone/>
            </a:pPr>
            <a:r>
              <a:rPr lang="en-US" sz="1300" dirty="0">
                <a:solidFill>
                  <a:srgbClr val="9FB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Junio 2026   ·   Dataset: Olist Brazilian E-Commerce (Kaggle)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Olist: un marketplace, nueve tablas, el ciclo completo del pedido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BE7E36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 Owner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conecta a pequeños y medianos comercios con los grandes canales de venta de Brasil: el vendedor publica una vez y Olist distribuye, cobra y coordina la logística. El dataset público registra el ciclo completo de cada pedido en nueve tablas relacionales.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06324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≈100k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36941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14016" y="306324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14016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414016" y="36941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61104" y="306324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1104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2016–18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261104" y="36941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7F3EF"/>
          </a:solidFill>
          <a:ln w="12700">
            <a:solidFill>
              <a:srgbClr val="46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80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no contractual (silencioso).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suscripción, el cliente nunca “cancela”: deja de comprar. El abandono se infiere de la inactividad — la persona real es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8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customer_unique_id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554480"/>
            <a:ext cx="5285232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9" name="Image 0" descr="/sessions/inspiring-eloquent-edison/mnt/outputs/assets/erd_o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024319"/>
            <a:ext cx="4919472" cy="33488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37960" y="566928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del dataset Olist (9 tablas).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Y EL MVP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cliente no cancela: deja de comprar — ¿qué predecir?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BE7E36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 Owner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583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645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 de tiempo de un cliente primerizo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5943600" cy="0"/>
          </a:xfrm>
          <a:prstGeom prst="line">
            <a:avLst/>
          </a:prstGeom>
          <a:noFill/>
          <a:ln w="25400">
            <a:solidFill>
              <a:srgbClr val="8A9B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697480"/>
            <a:ext cx="274320" cy="274320"/>
          </a:xfrm>
          <a:prstGeom prst="ellipse">
            <a:avLst/>
          </a:prstGeom>
          <a:solidFill>
            <a:srgbClr val="1332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99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compra (t)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2560320"/>
            <a:ext cx="2834640" cy="548640"/>
          </a:xfrm>
          <a:prstGeom prst="rect">
            <a:avLst/>
          </a:prstGeom>
          <a:solidFill>
            <a:srgbClr val="E7F3EF"/>
          </a:solidFill>
          <a:ln w="12700">
            <a:solidFill>
              <a:srgbClr val="0C8B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8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(t, t+H]   H = 90 días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697480"/>
            <a:ext cx="274320" cy="274320"/>
          </a:xfrm>
          <a:prstGeom prst="ellipse">
            <a:avLst/>
          </a:prstGeom>
          <a:solidFill>
            <a:srgbClr val="1FA37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¿Recompra?  </a:t>
            </a:r>
            <a:pPr algn="ctr" indent="0" marL="0">
              <a:buNone/>
            </a:pPr>
            <a:r>
              <a:rPr lang="en-US" sz="10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is_repeat=1 · no → churn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3649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≈97% compra una sola vez → is_churn por ventana es casi constante (degenerado).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554480"/>
            <a:ext cx="4315968" cy="1024128"/>
          </a:xfrm>
          <a:prstGeom prst="roundRect">
            <a:avLst>
              <a:gd name="adj" fmla="val 8036"/>
            </a:avLst>
          </a:prstGeom>
          <a:solidFill>
            <a:srgbClr val="FBEDE9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79792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5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is_churn  </a:t>
            </a:r>
            <a:pPr indent="0" marL="0">
              <a:buNone/>
            </a:pPr>
            <a:r>
              <a:rPr lang="en-US" sz="1250" b="1" dirty="0">
                <a:solidFill>
                  <a:srgbClr val="BC5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degenerado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9792" y="1911096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≈97–99% positivos: un modelo trivial “todos abandonan” acierta sin aprender.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679192"/>
            <a:ext cx="4315968" cy="1069848"/>
          </a:xfrm>
          <a:prstGeom prst="roundRect">
            <a:avLst>
              <a:gd name="adj" fmla="val 7692"/>
            </a:avLst>
          </a:prstGeom>
          <a:solidFill>
            <a:srgbClr val="E7F3E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79792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8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is_repeat  </a:t>
            </a:r>
            <a:pPr indent="0" marL="0">
              <a:buNone/>
            </a:pPr>
            <a:r>
              <a:rPr lang="en-US" sz="125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accionable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79792" y="3026664"/>
            <a:ext cx="3986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≈3% positivos con volumen suficiente. En primerizos, no recomprar ES el churn: misma señal, clase minoritaria.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0416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la recompra es mejor target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407408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544568"/>
            <a:ext cx="310896" cy="310896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" y="4526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Evita la degeneración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4956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is_churn casi constante (97%); is_repeat conserva varianza.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3346704" y="4407408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11296" y="4544568"/>
            <a:ext cx="310896" cy="310896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30" name="Text 28"/>
          <p:cNvSpPr/>
          <p:nvPr/>
        </p:nvSpPr>
        <p:spPr>
          <a:xfrm>
            <a:off x="3511296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13632" y="4526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accionable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29584" y="4956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campañas de conversión a la 2ª compra con lift medible.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126480" y="4407408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91072" y="4544568"/>
            <a:ext cx="310896" cy="310896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35" name="Text 33"/>
          <p:cNvSpPr/>
          <p:nvPr/>
        </p:nvSpPr>
        <p:spPr>
          <a:xfrm>
            <a:off x="6291072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4526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Equivale al churn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09360" y="4956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primerizos, no recomprar en H = churn (clase minoritaria).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906256" y="4407408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70848" y="4544568"/>
            <a:ext cx="310896" cy="310896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40" name="Text 38"/>
          <p:cNvSpPr/>
          <p:nvPr/>
        </p:nvSpPr>
        <p:spPr>
          <a:xfrm>
            <a:off x="907084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73184" y="4526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Alinea modelo y negocio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089136" y="49560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KPI de monitoreo; recompra = palanca de acción.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EQUIPO · CÉLULA ÁGIL DE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roles complementarios, un MVP de extremo a extremo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05795" y="310896"/>
            <a:ext cx="925373" cy="310896"/>
          </a:xfrm>
          <a:prstGeom prst="roundRect">
            <a:avLst>
              <a:gd name="adj" fmla="val 50000"/>
            </a:avLst>
          </a:prstGeom>
          <a:solidFill>
            <a:srgbClr val="13323B"/>
          </a:solidFill>
          <a:ln/>
        </p:spPr>
      </p:sp>
      <p:sp>
        <p:nvSpPr>
          <p:cNvPr id="5" name="Text 3"/>
          <p:cNvSpPr/>
          <p:nvPr/>
        </p:nvSpPr>
        <p:spPr>
          <a:xfrm>
            <a:off x="10705795" y="310896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3505200" cy="475488"/>
          </a:xfrm>
          <a:prstGeom prst="roundRect">
            <a:avLst>
              <a:gd name="adj" fmla="val 17308"/>
            </a:avLst>
          </a:prstGeom>
          <a:solidFill>
            <a:srgbClr val="0C8B79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92224"/>
            <a:ext cx="3505200" cy="237744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554480"/>
            <a:ext cx="341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 de Datos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176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C8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calidad e infraestructura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95728"/>
            <a:ext cx="31577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pipelines ETL e integra datos nuevos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calidad, consistencia y trazabilidad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datasets y scripts (Git)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la actualización mensual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Despliega el .pkl / API / MLflow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4346448" y="155448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6448" y="1554480"/>
            <a:ext cx="3505200" cy="475488"/>
          </a:xfrm>
          <a:prstGeom prst="roundRect">
            <a:avLst>
              <a:gd name="adj" fmla="val 17308"/>
            </a:avLst>
          </a:prstGeom>
          <a:solidFill>
            <a:srgbClr val="2E7F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6448" y="1792224"/>
            <a:ext cx="3505200" cy="237744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5" name="Text 13"/>
          <p:cNvSpPr/>
          <p:nvPr/>
        </p:nvSpPr>
        <p:spPr>
          <a:xfrm>
            <a:off x="4392168" y="1554480"/>
            <a:ext cx="341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1040" y="2103120"/>
            <a:ext cx="3176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modelado y evaluación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9328" y="2395728"/>
            <a:ext cx="31577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EDA y análisis estadístico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características y entrena modelos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tuning de hiperparámetros y CV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con métricas técnicas y de negocio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target y el storytelling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125968" y="1554480"/>
            <a:ext cx="3505200" cy="4297680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5968" y="1554480"/>
            <a:ext cx="3505200" cy="475488"/>
          </a:xfrm>
          <a:prstGeom prst="roundRect">
            <a:avLst>
              <a:gd name="adj" fmla="val 17308"/>
            </a:avLst>
          </a:prstGeom>
          <a:solidFill>
            <a:srgbClr val="BE7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5968" y="1792224"/>
            <a:ext cx="3505200" cy="237744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21" name="Text 19"/>
          <p:cNvSpPr/>
          <p:nvPr/>
        </p:nvSpPr>
        <p:spPr>
          <a:xfrm>
            <a:off x="8171688" y="1554480"/>
            <a:ext cx="341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 Owner (DPO)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90560" y="2103120"/>
            <a:ext cx="3176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E7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Negocio, coordinación y defensa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08848" y="2395728"/>
            <a:ext cx="31577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problema y métricas de impacto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Coadyuva en hipótesis y variables objetivo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sprints y prioriza tareas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riesgos éticos y de gobernanza</a:t>
            </a:r>
            <a:endParaRPr lang="en-US" sz="116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6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reportes y defiende resultados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Y ACTIVIDADES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tabla, un color por rol · qué hace cada quién en cada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05795" y="310896"/>
            <a:ext cx="925373" cy="310896"/>
          </a:xfrm>
          <a:prstGeom prst="roundRect">
            <a:avLst>
              <a:gd name="adj" fmla="val 50000"/>
            </a:avLst>
          </a:prstGeom>
          <a:solidFill>
            <a:srgbClr val="13323B"/>
          </a:solidFill>
          <a:ln/>
        </p:spPr>
      </p:sp>
      <p:sp>
        <p:nvSpPr>
          <p:cNvPr id="5" name="Text 3"/>
          <p:cNvSpPr/>
          <p:nvPr/>
        </p:nvSpPr>
        <p:spPr>
          <a:xfrm>
            <a:off x="10705795" y="310896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1627632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13323B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62763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 </a:t>
            </a:r>
            <a:pPr algn="ctr" indent="0" marL="0">
              <a:buNone/>
            </a:pPr>
            <a:r>
              <a:rPr lang="en-US" sz="1050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y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33288" y="1627632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13323B"/>
          </a:solidFill>
          <a:ln/>
        </p:spPr>
      </p:sp>
      <p:sp>
        <p:nvSpPr>
          <p:cNvPr id="9" name="Text 7"/>
          <p:cNvSpPr/>
          <p:nvPr/>
        </p:nvSpPr>
        <p:spPr>
          <a:xfrm>
            <a:off x="5824728" y="162763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 </a:t>
            </a:r>
            <a:pPr algn="ctr" indent="0" marL="0">
              <a:buNone/>
            </a:pPr>
            <a:r>
              <a:rPr lang="en-US" sz="1050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 y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23376" y="1627632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13323B"/>
          </a:solidFill>
          <a:ln/>
        </p:spPr>
      </p:sp>
      <p:sp>
        <p:nvSpPr>
          <p:cNvPr id="11" name="Text 9"/>
          <p:cNvSpPr/>
          <p:nvPr/>
        </p:nvSpPr>
        <p:spPr>
          <a:xfrm>
            <a:off x="8814816" y="162763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 </a:t>
            </a:r>
            <a:pPr algn="ctr" indent="0" marL="0">
              <a:buNone/>
            </a:pPr>
            <a:r>
              <a:rPr lang="en-US" sz="1050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final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0C8B7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331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Datos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1188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2E7FA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611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Datos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BE7E3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8920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2478024"/>
            <a:ext cx="64008" cy="896112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233172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datos, vistas unificadas, calidad del dataset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733288" y="233172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33288" y="2478024"/>
            <a:ext cx="64008" cy="896112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23" name="Text 21"/>
          <p:cNvSpPr/>
          <p:nvPr/>
        </p:nvSpPr>
        <p:spPr>
          <a:xfrm>
            <a:off x="5916168" y="233172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reproducible, Git, automatización mensual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723376" y="233172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23376" y="2478024"/>
            <a:ext cx="64008" cy="896112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26" name="Text 24"/>
          <p:cNvSpPr/>
          <p:nvPr/>
        </p:nvSpPr>
        <p:spPr>
          <a:xfrm>
            <a:off x="8906256" y="233172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del modelo (MLflow/Git), exporta .pkl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743200" y="361188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758184"/>
            <a:ext cx="64008" cy="896112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361188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Hipótesis, EDA, métricas baseline, features iniciales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733288" y="361188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33288" y="3758184"/>
            <a:ext cx="64008" cy="896112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32" name="Text 30"/>
          <p:cNvSpPr/>
          <p:nvPr/>
        </p:nvSpPr>
        <p:spPr>
          <a:xfrm>
            <a:off x="5916168" y="361188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y selección; valida transformaciones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723376" y="361188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723376" y="3758184"/>
            <a:ext cx="64008" cy="896112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35" name="Text 33"/>
          <p:cNvSpPr/>
          <p:nvPr/>
        </p:nvSpPr>
        <p:spPr>
          <a:xfrm>
            <a:off x="8906256" y="361188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CV walk-forward, selecciona modelo e importancia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2743200" y="489204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0" y="5038344"/>
            <a:ext cx="64008" cy="896112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489204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problema, hipótesis y métricas de impacto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733288" y="489204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33288" y="5038344"/>
            <a:ext cx="64008" cy="896112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41" name="Text 39"/>
          <p:cNvSpPr/>
          <p:nvPr/>
        </p:nvSpPr>
        <p:spPr>
          <a:xfrm>
            <a:off x="5916168" y="489204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flujo; consolida métricas y target final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8723376" y="4892040"/>
            <a:ext cx="28620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723376" y="5038344"/>
            <a:ext cx="64008" cy="896112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44" name="Text 42"/>
          <p:cNvSpPr/>
          <p:nvPr/>
        </p:nvSpPr>
        <p:spPr>
          <a:xfrm>
            <a:off x="8906256" y="4892040"/>
            <a:ext cx="2569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Storytelling, KPIs de negocio y defensa del resultado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DISTRIBUCIONES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pedido: cuánto se gasta y cuántos ítems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11872"/>
            <a:ext cx="5166360" cy="32823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pedido en escala log10 (sesgo a la derecha, log-normal).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ite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13954"/>
            <a:ext cx="5166360" cy="32781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pedidos con 1 ítem (eje log).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SATISFACCIÓN Y PAGO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Reseñas y método de pago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17069"/>
            <a:ext cx="5166360" cy="32719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reseñas se concentran en 5★ (clase desbalanceada).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pa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20171"/>
            <a:ext cx="5166360" cy="3265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 es el método de pago dominante.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CRÉDITO Y LOGÍSTICA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Cuotas de pago y tiempos de entrega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install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17069"/>
            <a:ext cx="5166360" cy="32719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variadas hasta 12 (eje log).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deliv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08738"/>
            <a:ext cx="5166360" cy="32885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mediana de pocos días, con cola tardía.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PERFIL RFM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Recencia y gasto del cliente (frequency = 1 en primerizos)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rec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06642"/>
            <a:ext cx="5166360" cy="32927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Recencia: días desde la última (= única) compra.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monet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11872"/>
            <a:ext cx="5166360" cy="3282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acumulado en escala log10.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MERCADO EN EL TIEMPO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Crecimiento del marketplace (2016–2018)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orders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25068"/>
            <a:ext cx="5166360" cy="285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por mes: crecimiento y pico en Black Friday 2017.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revenue_mon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25068"/>
            <a:ext cx="5166360" cy="285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mes (millones BRL); últimos meses incompletos.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EDA — GEOGRAFÍA Y CATÁLOGO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Dónde y qué se compra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11751"/>
            <a:ext cx="5166360" cy="30825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en el sudeste (SP ≈42%).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categ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49564"/>
            <a:ext cx="5166360" cy="32069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líderes por nº de pedidos.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SEÑAL DE RECOMPRA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evidencia que sostiene H = 90 días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days2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20316"/>
            <a:ext cx="5166360" cy="28654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hasta la 2ª compra: la mayoría ocurre antes de 90 días.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churn_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22696"/>
            <a:ext cx="5166360" cy="28606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is_churn por ventana es ≈constante para todo H (degenerado).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SEÑAL DE RECOMPRA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propensión varía: hay señal explotable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coh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23487"/>
            <a:ext cx="5166360" cy="28590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2ª compra por cohorte mensual de 1ª compra.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cat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49564"/>
            <a:ext cx="5166360" cy="32069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2ª compra por categoría de entrada (n≥800).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· TARGET Y PARTICIÓN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accionable y partición out-of-time (anti-fuga)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7665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f_split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07460"/>
            <a:ext cx="6446520" cy="204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950208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recompra por snapshot mensual; cortes train | validation | backtest.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98080" y="1481328"/>
            <a:ext cx="413308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1591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Partición por snapshot_date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0" y="192024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42.583 · Validation 19.837 · Backtest 13.210 filas.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aleatorio y K-Fold quedan descartados: filtran el futuro.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simula la operación real: pasado → futuro.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primerizo entra una sola vez (1 cliente = 1 fila).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Poblaciones evaluadas (Acto IV)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73168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68880"/>
                <a:gridCol w="256032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Población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positiva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Accionabilidad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completa (todos en 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≈0,6–2,6%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purchased_next_h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(casi todo 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primerizos en t (freq=1)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≈3% (is_repeat)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is_repeat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(campañas 2ª compra)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recurrentes (freq≥2)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purchased_next_h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(n pequeño)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INGENIERÍA DE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columnas crudas a la tabla maestra (sin fuga)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286000" cy="2926080"/>
          </a:xfrm>
          <a:prstGeom prst="roundRect">
            <a:avLst>
              <a:gd name="adj" fmla="val 3600"/>
            </a:avLst>
          </a:prstGeom>
          <a:solidFill>
            <a:srgbClr val="EAF1F0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tablas crudas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/ customers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/ payments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products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/ geo / categorías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C8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por customer_unique_id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7792" y="3246120"/>
            <a:ext cx="384048" cy="0"/>
          </a:xfrm>
          <a:prstGeom prst="line">
            <a:avLst/>
          </a:prstGeom>
          <a:noFill/>
          <a:ln w="317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35240" y="3246120"/>
            <a:ext cx="384048" cy="0"/>
          </a:xfrm>
          <a:prstGeom prst="line">
            <a:avLst/>
          </a:prstGeom>
          <a:noFill/>
          <a:ln w="317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783080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901952"/>
            <a:ext cx="64008" cy="658368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56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 · frequency · monetary  ·  avg_order_value · tenure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383280" y="2770632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889504"/>
            <a:ext cx="64008" cy="658368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843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Comportamiento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56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avg_items · max_installments  ·  n_payment_types · used_voucher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383280" y="3758184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877056"/>
            <a:ext cx="64008" cy="658368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41056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56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top_category · avg_item_price  ·  avg_freight · avg_distance_km · n_categories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019288" y="178308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13323B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9288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maestra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19288" y="2331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6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cliente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19288" y="2834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 </a:t>
            </a:r>
            <a:pPr algn="ctr" indent="0" marL="0">
              <a:buNone/>
            </a:pPr>
            <a:r>
              <a:rPr lang="en-US" sz="1200" dirty="0">
                <a:solidFill>
                  <a:srgbClr val="AEC6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candidatas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2960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comportamiento + contexto, listas para el embudo de selección.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BF4E6"/>
          </a:solidFill>
          <a:ln w="12700">
            <a:solidFill>
              <a:srgbClr val="BE7E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anti-fuga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26080" y="5074920"/>
            <a:ext cx="8549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feature usa solo pedidos con  </a:t>
            </a:r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3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order_purchase_timestamp ≤ t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el target usa solo la ventana  </a:t>
            </a:r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3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(t, t+H]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Las señales post-compra del 1er pedido se mantienen como control, no como features.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VARIABLES CONSIDERADAS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Directas (RFM, comportamiento, contexto) y de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60920"/>
                <a:gridCol w="141732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Variable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Significado (español)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Estado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recency_days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desde la última compra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frequency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pedidos del cliente (=1 en primerizos)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monetary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total acumulado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tenure_days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 desde la primera compra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avg_items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medio de ítems por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avg_order_value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medio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avg_freight_value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Flete medio por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max_installments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máximo de cuotas usadas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avg_distance_km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media cliente–vendedor (haversine)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customer_state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(UF) dominante del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de producto dominante del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payment_type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de pago dominante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avg_review_score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Calificación media de reseñas (post-compra)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E7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avg_delay_days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 medio de entrega en días (post-compra)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E7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pct_late_deliveries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entregas tardías (post-compra)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E7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veredicto del embudo de selección (§9).  «control» = señal post-compra: se calcula pero no se usa como feature (evita fuga).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VARIABLES CONSIDERADAS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 de características (adicionales) y geografía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60920"/>
                <a:gridCol w="1417320"/>
              </a:tblGrid>
              <a:tr h="2366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Variable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Significado (español)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Estado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freight_ratio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 flete sobre el total del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avg_item_price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medio por ítem (price / n_items)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promised_lead_days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 de entrega prometido en t (días)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n_categories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categorías distintas en el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avg_photos_qty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medio de fotos de los productos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avg_description_len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 media de la descripción del producto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avg_product_weight_g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medio de los productos (g)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avg_product_volume_cm3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medio de los productos (cm³)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n_payment_types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medios de pago distintos del pedido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used_voucher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cupón / voucher (0/1)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same_state_seller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 del mismo estado del cliente (0/1)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purchase_month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de la compra (1–12)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purchase_dow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 de la semana de la compra (0=lunes)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purchase_hour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de la compra (0–23)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is_high_season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Temporada alta Black Friday/Navidad (0/1)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2366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customer_region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de Brasil (N/NE/CO/SE/S)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C5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candidatas en total → 13 seleccionadas · 3 de control · 15 descartadas.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SELECCIÓN DE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embudo: de filtros baratos a métodos costosos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852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64208"/>
            <a:ext cx="73152" cy="548640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18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Filtro univariado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casi nula, Información Mutua (MI), ANOVA-F, Cramér's V, correlación |r|&gt;0,9.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66928" y="2432304"/>
            <a:ext cx="5852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542032"/>
            <a:ext cx="73152" cy="5486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Multicolinealidad (VIF)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77977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variables explicables por otras (VIF&gt;10), iterativamente.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5852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419856"/>
            <a:ext cx="73152" cy="548640"/>
          </a:xfrm>
          <a:prstGeom prst="rect">
            <a:avLst/>
          </a:prstGeom>
          <a:solidFill>
            <a:srgbClr val="1FA3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741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Embebidos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a cero, importancia de Random Forest y por permutación.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66928" y="4187952"/>
            <a:ext cx="5852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4297680"/>
            <a:ext cx="73152" cy="548640"/>
          </a:xfrm>
          <a:prstGeom prst="rect">
            <a:avLst/>
          </a:prstGeom>
          <a:solidFill>
            <a:srgbClr val="BE7E3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51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Wrapper (RFECV)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535424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recursiva con CV: mejor subconjunto por AUC.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58521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5175504"/>
            <a:ext cx="73152" cy="548640"/>
          </a:xfrm>
          <a:prstGeom prst="rect">
            <a:avLst/>
          </a:prstGeom>
          <a:solidFill>
            <a:srgbClr val="13323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29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Consenso de rangos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41324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rangos (MI, |coef L1|, RF, permutación) + RFECV.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629400" y="1554480"/>
            <a:ext cx="5001768" cy="4544568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27" name="Image 0" descr="/sessions/inspiring-eloquent-edison/mnt/outputs/assets/f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239" y="1737360"/>
            <a:ext cx="4384091" cy="3931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812280" y="5687568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candidatas numéricas (train): detecta redundancia |r|&gt;0,9.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SELECCIÓN — VEREDICTO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Consenso de rangos y wrapper RFECV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f_consens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28155"/>
            <a:ext cx="5166360" cy="38497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de rangos (menor = mejor); verde = seleccionada.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f_rfe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647117"/>
            <a:ext cx="5166360" cy="2011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RFECV: AUC por nº de columnas; óptimo del subconjunto.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VARIABLES DESCARTADAS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quedó fuera y por qué (15 variables)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21208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motivo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se descarta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nula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(calidad de dato)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6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frequency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 = 1 en primerizos: sin varianza, no informa.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(|r| &gt; 0,9)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6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tenure_days · avg_order_value · monetary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ya contenida en otra variable (recency_days, avg_item_price); se conserva una de cada par.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geográfica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6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customer_region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Redundante con customer_state, que ya captura la ubicación.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señal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6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freight_ratio · avg_product_weight_g · avg_product_volume_cm3 · purchase_month · purchase_dow · purchase_hour · is_high_season · avg_description_len · same_state_seller · customer_state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individual ≈ 0,50; reincorporarlas no mejora la AUC out-of-time (verificado).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BF4E6"/>
          </a:solidFill>
          <a:ln w="12700">
            <a:solidFill>
              <a:srgbClr val="BE7E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aporta al modelo» es un veredicto de la selección de variables, no de la limpieza: esta última solo descarta por calidad de dato (p. ej. frequency, sin varianza). El resto se descarta por redundancia o falta de señal.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VARIABLES QUE SE USAN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seleccionadas por el embudo (+ 3 de control)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7955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84048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Grupo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Variable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Significado (español)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RFM /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comportamiento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recency_days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desde la última (única) compra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avg_items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medio de ítems por pedido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avg_freight_value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Flete medio por pedido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max_installments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máximo de cuotas usadas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A37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Ingeniería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A37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(adicionales)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avg_item_price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medio por ítem (price / n_items)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avg_photos_qty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medio de fotos del producto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promised_lead_days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 de entrega prometido en t (días)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n_categories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categorías distintas del pedido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n_payment_types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medios de pago distintos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used_voucher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cupón / voucher (0/1)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avg_distance_km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media cliente–vendedor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FA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Categóricas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top_category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de producto dominante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payment_type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de pago dominante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481328"/>
            <a:ext cx="2944368" cy="4617720"/>
          </a:xfrm>
          <a:prstGeom prst="roundRect">
            <a:avLst>
              <a:gd name="adj" fmla="val 2795"/>
            </a:avLst>
          </a:prstGeom>
          <a:solidFill>
            <a:srgbClr val="13323B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69680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(no features)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869680" y="20116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avg_review_score — calificación media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avg_delay_days — retraso medio de entrega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pct_late_deliveries — % entregas tardías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869680" y="3611880"/>
            <a:ext cx="2578608" cy="0"/>
          </a:xfrm>
          <a:prstGeom prst="line">
            <a:avLst/>
          </a:prstGeom>
          <a:noFill/>
          <a:ln w="12700">
            <a:solidFill>
              <a:srgbClr val="2C4A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37490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7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señales post-compra del 1er pedido: se calculan para diagnóstico, pero usarlas como features sería fuga de información.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· INGENIERO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reproducible: un solo objeto, sin fuga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0C8B79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EAF1F0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Numéricas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(mediana)  →  StandardScaler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3832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EAF1F0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Categóricas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(moda)  →  One-Hot (min_frequency, handle_unknown)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3310128"/>
            <a:ext cx="502920" cy="0"/>
          </a:xfrm>
          <a:prstGeom prst="line">
            <a:avLst/>
          </a:prstGeom>
          <a:noFill/>
          <a:ln w="317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2331720"/>
            <a:ext cx="2468880" cy="1965960"/>
          </a:xfrm>
          <a:prstGeom prst="roundRect">
            <a:avLst>
              <a:gd name="adj" fmla="val 4186"/>
            </a:avLst>
          </a:prstGeom>
          <a:solidFill>
            <a:srgbClr val="13323B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6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en paralelo numéricas y categóricas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3310128"/>
            <a:ext cx="502920" cy="0"/>
          </a:xfrm>
          <a:prstGeom prst="line">
            <a:avLst/>
          </a:prstGeom>
          <a:noFill/>
          <a:ln w="317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2331720"/>
            <a:ext cx="1828800" cy="1965960"/>
          </a:xfrm>
          <a:prstGeom prst="roundRect">
            <a:avLst>
              <a:gd name="adj" fmla="val 4500"/>
            </a:avLst>
          </a:prstGeom>
          <a:solidFill>
            <a:srgbClr val="E7F3E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55480" y="3310128"/>
            <a:ext cx="457200" cy="0"/>
          </a:xfrm>
          <a:prstGeom prst="line">
            <a:avLst/>
          </a:prstGeom>
          <a:noFill/>
          <a:ln w="317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2468880"/>
            <a:ext cx="1572768" cy="1691640"/>
          </a:xfrm>
          <a:prstGeom prst="roundRect">
            <a:avLst>
              <a:gd name="adj" fmla="val 5233"/>
            </a:avLst>
          </a:prstGeom>
          <a:solidFill>
            <a:srgbClr val="0F2A31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0" y="28346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6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6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.pkl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0" y="36118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fit de cada transformador ocurre solo sobre el train dentro de la CV → evita la fuga de datos.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objeto serializado (.pkl) aplica idénticas transformaciones cada mes → reproducibilidad.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ColumnTransformer reducen el error humano: se entrena y predice como una sola unidad.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SELECCIÓN DEL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 de modelos e indicadores (validación out-of-time)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097280"/>
                <a:gridCol w="1005840"/>
                <a:gridCol w="1005840"/>
                <a:gridCol w="4389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AUC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PR-AUC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Recall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F1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Veredicto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A37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Regresión logística  ✓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A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ELEGIDA — interpretable, estable; AUC a ≤0,01 del líder (Occam)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32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Random Forest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lineal, pero más pesada y sin ventaja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32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HistGradientBoosting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del arte tabular; ventaja nula en señal débil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32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DummyClassifier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Piso de referencia (no es un modelo real)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480560"/>
            <a:ext cx="3566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" y="48554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bajo ROC: ordena por propensión, robusta al desbalance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0248" y="4480560"/>
            <a:ext cx="3566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07408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PR-AUC / Recall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07408" y="48554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 la clase positiva (recompra, ≈3%)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73568" y="4480560"/>
            <a:ext cx="35661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10728" y="4572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10728" y="485546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precisión-recall al umbral 0,5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" y="54406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7F3EF"/>
          </a:solidFill>
          <a:ln w="12700">
            <a:solidFill>
              <a:srgbClr val="46C9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458968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También descartados: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y KNN por escala (~90k filas); modelos de lifetime BG/NBD por el 97% de primerizos (requieren historial de repetición).  El tuning (L2, C≈0,008) mejora la AUC OOT 0,557 → 0,561.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COMPARACIÓN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Curvas ROC en validación (out-of-time)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70408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f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09" y="1664208"/>
            <a:ext cx="4919518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74243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de los cuatro candidatos; las curvas casi se solapan: la ventaja entre modelos es mínima.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1481328"/>
            <a:ext cx="3858768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1627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la logística?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AUC out-of-time iguala al mejor competidor dentro de 0,01.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prefiere por interpretabilidad, estabilidad entre snapshots y simplicidad operativa (Occam).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legibles para negocio y para auditoría/gobernanza.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hiperparámetros sensibles → operación mensual más robusta.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HIPERPARAMETRIZACIÓN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Optimización de hiperparámetros: estrategia y elección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9436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c_grid_vs_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331" y="1755648"/>
            <a:ext cx="4426793" cy="2240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8A9BA0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9264" y="422452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3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 —  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toda la rejilla. Garantiza el óptimo de la rejilla, pero su costo crece exponencialmente.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901184"/>
            <a:ext cx="310896" cy="310896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9264" y="48646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3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 ✓  —  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Muestrea al azar; con igual presupuesto explora más valores de los hiperparámetros que importan.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5541264"/>
            <a:ext cx="310896" cy="310896"/>
          </a:xfrm>
          <a:prstGeom prst="ellipse">
            <a:avLst/>
          </a:prstGeom>
          <a:solidFill>
            <a:srgbClr val="8A9BA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9264" y="550468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3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bayesiana  —  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Optuna/Hyperopt modelan regiones prometedoras; eficientes en espacios grandes.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20840" y="1627632"/>
            <a:ext cx="4910328" cy="3703320"/>
          </a:xfrm>
          <a:prstGeom prst="roundRect">
            <a:avLst>
              <a:gd name="adj" fmla="val 2222"/>
            </a:avLst>
          </a:prstGeom>
          <a:solidFill>
            <a:srgbClr val="13323B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03720" y="1755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RandomizedSearchCV y no Optuna?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903720" y="233172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de scikit-learn, sin dependencias externas → simplifica el job mensual de Databricks.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débil (AUC ≈0,56) y espacio pequeño: el muestreo bayesiano no aporta mejora apreciable.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directo con el pipeline y la CV walk-forward; reproducible por random_state.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combinaciones aleatorias ya cubren el espacio de búsqueda.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6903720" y="452628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0F2A31"/>
          </a:solidFill>
          <a:ln w="12700">
            <a:solidFill>
              <a:srgbClr val="2C4A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0" y="45262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hiperparámetros:  </a:t>
            </a:r>
            <a:pPr indent="0" marL="0">
              <a:buNone/>
            </a:pPr>
            <a:r>
              <a:rPr lang="en-US" sz="1100" b="1" dirty="0">
                <a:solidFill>
                  <a:srgbClr val="46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penalty=L2 · C≈0,008 · class_weight=balanced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VALIDACIÓN Y BÚSQUEDA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 cruzada walk-forward e historial de optimización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c_walkfor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651407"/>
            <a:ext cx="5166360" cy="20032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fold entrena con los snapshots previos y valida el mes siguiente.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f_opt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579833"/>
            <a:ext cx="5166360" cy="2146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cada trial y mejor acumulado (estilo plot_optimization_history).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INTERPRETACIÓN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mueve la recompra? Importancia del modelo final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731045" y="310896"/>
            <a:ext cx="1900123" cy="310896"/>
          </a:xfrm>
          <a:prstGeom prst="roundRect">
            <a:avLst>
              <a:gd name="adj" fmla="val 50000"/>
            </a:avLst>
          </a:prstGeom>
          <a:solidFill>
            <a:srgbClr val="2E7FA6"/>
          </a:solidFill>
          <a:ln/>
        </p:spPr>
      </p:sp>
      <p:sp>
        <p:nvSpPr>
          <p:cNvPr id="5" name="Text 3"/>
          <p:cNvSpPr/>
          <p:nvPr/>
        </p:nvSpPr>
        <p:spPr>
          <a:xfrm>
            <a:off x="9731045" y="310896"/>
            <a:ext cx="1900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Científico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70408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f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157" y="1664208"/>
            <a:ext cx="5208422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74243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por permutación sobre validación: caída media de AUC al permutar cada variable.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1481328"/>
            <a:ext cx="3858768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1627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top_category (categoría del 1er pedido) domina la propensión a recomprar.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siguen avg_item_price, max_installments, n_categories y recency_days.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= la más fiable (mide la caída real de AUC).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el consenso del embudo y el estado del arte (RFM).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VALOR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Backtest único: lift por decil y curva de ganancia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BE7E36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 Owner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g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27432"/>
            <a:ext cx="5166360" cy="2851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por decil de score (10 = mayor propensión).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10" name="Image 1" descr="/sessions/inspiring-eloquent-edison/mnt/outputs/assets/g_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22696"/>
            <a:ext cx="5166360" cy="28606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5715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ganancia: recompradores capturados vs. base contactada.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KPIs ACCIONABLES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score a la campaña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BE7E36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Product Owner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7099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1,70×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04088" y="2258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del decil superior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06824" y="17099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28,9%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98264" y="2258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recompradores en el top 20% del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01000" y="17099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E7E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≈6.250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092440" y="2258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· valor estimado de campaña (top 20%)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" y="29443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7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0,566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04088" y="3493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backtest (uso único)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2834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06824" y="29443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1,01%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398264" y="3493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recompra (panel primerizos)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834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01000" y="29443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9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99,4%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092440" y="3493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por ventana → KPI de monitoreo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29768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7F3EF"/>
          </a:solidFill>
          <a:ln w="12700">
            <a:solidFill>
              <a:srgbClr val="46C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34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Acción de negocio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Rankear a los primerizos por propensión y contactar al top 20–30% concentra la mayor parte de los recompradores con presupuesto acotado (curva de ganancia).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desbalance (~3%) se trata con class_weight='balanced'; la evaluación usa AUC-ROC, PR-AUC y recall — nunca accuracy.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churn (99,4%) se conserva como KPI de monitoreo: la dirección sigue viendo “churn”, el modelo optimiza lo que sí puede mover (la recompra).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· ROBUSTEZ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Estabilidad del modelo en producción simulada (2018)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0C8B79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70408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f_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40462"/>
            <a:ext cx="6711696" cy="25165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74243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mensual y tasa base de recompra al reentrenar mes a mes durante 2018.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0" y="1481328"/>
            <a:ext cx="3858768" cy="4617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1627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importa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job mensual: reentrena y evalúa en cada snapshot de 2018.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AUC se mantiene estable mes a mes (≈0,59) → el pipeline es robusto.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saltos bruscos: no hay señales de fuga ni de sobreajuste temporal.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monitoreo continuo del modelo en producción.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8B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EN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Reentrenamiento mensual automatizado (Databricks + MLflow)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06026" y="310896"/>
            <a:ext cx="1825142" cy="310896"/>
          </a:xfrm>
          <a:prstGeom prst="roundRect">
            <a:avLst>
              <a:gd name="adj" fmla="val 50000"/>
            </a:avLst>
          </a:prstGeom>
          <a:solidFill>
            <a:srgbClr val="0C8B79"/>
          </a:solidFill>
          <a:ln/>
        </p:spPr>
      </p:sp>
      <p:sp>
        <p:nvSpPr>
          <p:cNvPr id="5" name="Text 3"/>
          <p:cNvSpPr/>
          <p:nvPr/>
        </p:nvSpPr>
        <p:spPr>
          <a:xfrm>
            <a:off x="9806026" y="310896"/>
            <a:ext cx="1825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Ingeniero de Datos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60920" y="1463040"/>
            <a:ext cx="4270248" cy="4663440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pic>
        <p:nvPicPr>
          <p:cNvPr id="7" name="Image 0" descr="/sessions/inspiring-eloquent-edison/mnt/outputs/assets/arch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3766" y="1600200"/>
            <a:ext cx="3164556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9344"/>
            <a:ext cx="365760" cy="365760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1975104"/>
            <a:ext cx="0" cy="347472"/>
          </a:xfrm>
          <a:prstGeom prst="line">
            <a:avLst/>
          </a:prstGeom>
          <a:noFill/>
          <a:ln w="19050">
            <a:solidFill>
              <a:srgbClr val="DCE6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1554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Disparo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51560" y="182880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de Databricks inicia un clúster efímero el día 1 de cada mes.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566928" y="2377440"/>
            <a:ext cx="365760" cy="365760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" y="2743200"/>
            <a:ext cx="0" cy="347472"/>
          </a:xfrm>
          <a:prstGeom prst="line">
            <a:avLst/>
          </a:prstGeom>
          <a:noFill/>
          <a:ln w="19050">
            <a:solidFill>
              <a:srgbClr val="DCE6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23225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51560" y="259689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9 CSV del blob público (espejo: vistas y sp_build_master_table en Azure SQL).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566928" y="3145536"/>
            <a:ext cx="365760" cy="365760"/>
          </a:xfrm>
          <a:prstGeom prst="ellipse">
            <a:avLst/>
          </a:prstGeom>
          <a:solidFill>
            <a:srgbClr val="1FA37A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9808" y="3511296"/>
            <a:ext cx="0" cy="347472"/>
          </a:xfrm>
          <a:prstGeom prst="line">
            <a:avLst/>
          </a:prstGeom>
          <a:noFill/>
          <a:ln w="19050">
            <a:solidFill>
              <a:srgbClr val="DCE6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30906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Procesamiento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51560" y="336499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→ order_enrichment → build_master_table por snapshots → preproceso.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566928" y="3913632"/>
            <a:ext cx="365760" cy="365760"/>
          </a:xfrm>
          <a:prstGeom prst="ellipse">
            <a:avLst/>
          </a:prstGeom>
          <a:solidFill>
            <a:srgbClr val="BE7E36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9808" y="4279392"/>
            <a:ext cx="0" cy="347472"/>
          </a:xfrm>
          <a:prstGeom prst="line">
            <a:avLst/>
          </a:prstGeom>
          <a:noFill/>
          <a:ln w="19050">
            <a:solidFill>
              <a:srgbClr val="DCE6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3858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Modelado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51560" y="413308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out-of-time + RandomizedSearchCV con CV walk-forward + backtest único.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566928" y="4681728"/>
            <a:ext cx="365760" cy="365760"/>
          </a:xfrm>
          <a:prstGeom prst="ellipse">
            <a:avLst/>
          </a:prstGeom>
          <a:solidFill>
            <a:srgbClr val="13323B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49808" y="5047488"/>
            <a:ext cx="0" cy="347472"/>
          </a:xfrm>
          <a:prstGeom prst="line">
            <a:avLst/>
          </a:prstGeom>
          <a:noFill/>
          <a:ln w="19050">
            <a:solidFill>
              <a:srgbClr val="DCE6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1560" y="46268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Trazabilidad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051560" y="490118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registra métricas; Model Registry versiona el modelo; se exporta el .pkl.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566928" y="5449824"/>
            <a:ext cx="365760" cy="365760"/>
          </a:xfrm>
          <a:prstGeom prst="ellipse">
            <a:avLst/>
          </a:prstGeom>
          <a:solidFill>
            <a:srgbClr val="0C8B79"/>
          </a:solidFill>
          <a:ln/>
        </p:spPr>
      </p:sp>
      <p:sp>
        <p:nvSpPr>
          <p:cNvPr id="34" name="Text 31"/>
          <p:cNvSpPr/>
          <p:nvPr/>
        </p:nvSpPr>
        <p:spPr>
          <a:xfrm>
            <a:off x="566928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51560" y="5394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Salida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051560" y="566928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70" dirty="0">
                <a:solidFill>
                  <a:srgbClr val="56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Inferencia: rankea clientes por propensión → dashboard / campaña. El clúster se auto-apaga.</a:t>
            </a:r>
            <a:endParaRPr lang="en-US" sz="1070" dirty="0"/>
          </a:p>
        </p:txBody>
      </p:sp>
      <p:sp>
        <p:nvSpPr>
          <p:cNvPr id="37" name="Text 34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Glosario de abreviaturas y 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05795" y="310896"/>
            <a:ext cx="925373" cy="310896"/>
          </a:xfrm>
          <a:prstGeom prst="roundRect">
            <a:avLst>
              <a:gd name="adj" fmla="val 50000"/>
            </a:avLst>
          </a:prstGeom>
          <a:solidFill>
            <a:srgbClr val="13323B"/>
          </a:solidFill>
          <a:ln/>
        </p:spPr>
      </p:sp>
      <p:sp>
        <p:nvSpPr>
          <p:cNvPr id="5" name="Text 3"/>
          <p:cNvSpPr/>
          <p:nvPr/>
        </p:nvSpPr>
        <p:spPr>
          <a:xfrm>
            <a:off x="10705795" y="310896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583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59105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Glosario</a:t>
            </a:r>
            <a:endParaRPr lang="en-US" sz="13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938528"/>
          <a:ext cx="6263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960120"/>
                <a:gridCol w="21945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MVP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mínimo viable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Recency, Frequency, Monetary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exploratorio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OOT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Out-of-time (partición temporal)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cruzada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bajo la curva 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PR-AUC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bajo precisión-recall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mutua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inflación de varianza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RFECV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Elim. recursiva de features con 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Stability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L1 / L2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Regularización Lasso / 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SMOTE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Sobremuestreo sintético de minoría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BG/NBD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compra no contractual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Extracción-Transformación-Carga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C8B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6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clave de desempeño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481328"/>
            <a:ext cx="4315968" cy="4617720"/>
          </a:xfrm>
          <a:prstGeom prst="roundRect">
            <a:avLst>
              <a:gd name="adj" fmla="val 1907"/>
            </a:avLst>
          </a:prstGeom>
          <a:solidFill>
            <a:srgbClr val="13323B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14300" dist="38100" dir="5400000">
              <a:srgbClr val="1A313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16093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201168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señal de recompra, débil pero real (AUC ≈0,56); el techo lo impone el dato, no el optimizador.</a:t>
            </a:r>
            <a:endParaRPr lang="en-US" sz="118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la regresión logística por interpretabilidad y estabilidad a igual rendimiento (Occam).</a:t>
            </a:r>
            <a:endParaRPr lang="en-US" sz="118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y out-of-time, con reglas anti-fuga y backtest de un solo uso.</a:t>
            </a:r>
            <a:endParaRPr lang="en-US" sz="118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= palanca accionable; churn = KPI de monitoreo.</a:t>
            </a:r>
            <a:endParaRPr lang="en-US" sz="118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D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pipeline .pkl versionado. Sprint 4 → dashboard/API, MLflow y gobernanza.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C8B7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0F2A3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46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Propensión a la recompra y churn en Olist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De La Quintana</a:t>
            </a:r>
            <a:pPr indent="0" marL="0">
              <a:buNone/>
            </a:pPr>
            <a:r>
              <a:rPr lang="en-US" sz="1300" dirty="0">
                <a:solidFill>
                  <a:srgbClr val="9FB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Sprints 1–3   ·   Notebook: olist_churn_csv.ipynb   ·   Artefacto: pipeline_churn_csv.pkl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· Propensión a la recompra · Sprints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Propensión a la Recompra / Churn — Olist</dc:title>
  <dc:subject>PptxGenJS Presentation</dc:subject>
  <dc:creator>Nelson De La Quintana</dc:creator>
  <cp:lastModifiedBy>Nelson De La Quintana</cp:lastModifiedBy>
  <cp:revision>1</cp:revision>
  <dcterms:created xsi:type="dcterms:W3CDTF">2026-06-13T12:01:17Z</dcterms:created>
  <dcterms:modified xsi:type="dcterms:W3CDTF">2026-06-13T12:01:17Z</dcterms:modified>
</cp:coreProperties>
</file>